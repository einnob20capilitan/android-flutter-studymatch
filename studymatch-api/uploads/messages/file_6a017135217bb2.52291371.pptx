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0"/>
  </p:notesMasterIdLst>
  <p:handoutMasterIdLst>
    <p:handoutMasterId r:id="rId61"/>
  </p:handoutMasterIdLst>
  <p:sldIdLst>
    <p:sldId id="256" r:id="rId2"/>
    <p:sldId id="281" r:id="rId3"/>
    <p:sldId id="282" r:id="rId4"/>
    <p:sldId id="280" r:id="rId5"/>
    <p:sldId id="283" r:id="rId6"/>
    <p:sldId id="284" r:id="rId7"/>
    <p:sldId id="285" r:id="rId8"/>
    <p:sldId id="311" r:id="rId9"/>
    <p:sldId id="287" r:id="rId10"/>
    <p:sldId id="286" r:id="rId11"/>
    <p:sldId id="257" r:id="rId12"/>
    <p:sldId id="288" r:id="rId13"/>
    <p:sldId id="258" r:id="rId14"/>
    <p:sldId id="313" r:id="rId15"/>
    <p:sldId id="289" r:id="rId16"/>
    <p:sldId id="290" r:id="rId17"/>
    <p:sldId id="259" r:id="rId18"/>
    <p:sldId id="260" r:id="rId19"/>
    <p:sldId id="261" r:id="rId20"/>
    <p:sldId id="299" r:id="rId21"/>
    <p:sldId id="262" r:id="rId22"/>
    <p:sldId id="263" r:id="rId23"/>
    <p:sldId id="312" r:id="rId24"/>
    <p:sldId id="291" r:id="rId25"/>
    <p:sldId id="292" r:id="rId26"/>
    <p:sldId id="264" r:id="rId27"/>
    <p:sldId id="265" r:id="rId28"/>
    <p:sldId id="266" r:id="rId29"/>
    <p:sldId id="300" r:id="rId30"/>
    <p:sldId id="301" r:id="rId31"/>
    <p:sldId id="267" r:id="rId32"/>
    <p:sldId id="268" r:id="rId33"/>
    <p:sldId id="293" r:id="rId34"/>
    <p:sldId id="269" r:id="rId35"/>
    <p:sldId id="315" r:id="rId36"/>
    <p:sldId id="294" r:id="rId37"/>
    <p:sldId id="295" r:id="rId38"/>
    <p:sldId id="270" r:id="rId39"/>
    <p:sldId id="271" r:id="rId40"/>
    <p:sldId id="302" r:id="rId41"/>
    <p:sldId id="278" r:id="rId42"/>
    <p:sldId id="272" r:id="rId43"/>
    <p:sldId id="274" r:id="rId44"/>
    <p:sldId id="273" r:id="rId45"/>
    <p:sldId id="277" r:id="rId46"/>
    <p:sldId id="316" r:id="rId47"/>
    <p:sldId id="303" r:id="rId48"/>
    <p:sldId id="304" r:id="rId49"/>
    <p:sldId id="297" r:id="rId50"/>
    <p:sldId id="305" r:id="rId51"/>
    <p:sldId id="275" r:id="rId52"/>
    <p:sldId id="276" r:id="rId53"/>
    <p:sldId id="306" r:id="rId54"/>
    <p:sldId id="317" r:id="rId55"/>
    <p:sldId id="318" r:id="rId56"/>
    <p:sldId id="319" r:id="rId57"/>
    <p:sldId id="314" r:id="rId58"/>
    <p:sldId id="298" r:id="rId5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F6D26-4268-4D4E-8050-EE197E1E415C}" v="3" dt="2024-03-22T03:09:40.4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1848" y="-4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Bryll Nosotros" userId="01bee185bf1ba505" providerId="Windows Live" clId="Web-{F59F6D26-4268-4D4E-8050-EE197E1E415C}"/>
    <pc:docChg chg="modSld">
      <pc:chgData name="Anthony Bryll Nosotros" userId="01bee185bf1ba505" providerId="Windows Live" clId="Web-{F59F6D26-4268-4D4E-8050-EE197E1E415C}" dt="2024-03-22T03:59:48.010" v="30"/>
      <pc:docMkLst>
        <pc:docMk/>
      </pc:docMkLst>
      <pc:sldChg chg="modNotes">
        <pc:chgData name="Anthony Bryll Nosotros" userId="01bee185bf1ba505" providerId="Windows Live" clId="Web-{F59F6D26-4268-4D4E-8050-EE197E1E415C}" dt="2024-03-22T03:59:48.010" v="30"/>
        <pc:sldMkLst>
          <pc:docMk/>
          <pc:sldMk cId="0" sldId="261"/>
        </pc:sldMkLst>
      </pc:sldChg>
      <pc:sldChg chg="modSp">
        <pc:chgData name="Anthony Bryll Nosotros" userId="01bee185bf1ba505" providerId="Windows Live" clId="Web-{F59F6D26-4268-4D4E-8050-EE197E1E415C}" dt="2024-03-22T03:09:40.472" v="2" actId="20577"/>
        <pc:sldMkLst>
          <pc:docMk/>
          <pc:sldMk cId="0" sldId="283"/>
        </pc:sldMkLst>
        <pc:spChg chg="mod">
          <ac:chgData name="Anthony Bryll Nosotros" userId="01bee185bf1ba505" providerId="Windows Live" clId="Web-{F59F6D26-4268-4D4E-8050-EE197E1E415C}" dt="2024-03-22T03:09:40.472" v="2" actId="20577"/>
          <ac:spMkLst>
            <pc:docMk/>
            <pc:sldMk cId="0" sldId="283"/>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3/21/2024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29478693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3/21/2024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0087135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eeksforgeeks.org/use-case-diagram/"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LINK: </a:t>
            </a:r>
            <a:r>
              <a:rPr lang="en-US" dirty="0">
                <a:cs typeface="Calibri"/>
                <a:hlinkClick r:id="rId3"/>
              </a:rPr>
              <a:t>https://www.geeksforgeeks.org/use-case-diagram/</a:t>
            </a:r>
          </a:p>
          <a:p>
            <a:endParaRPr lang="en-US" dirty="0">
              <a:cs typeface="Calibri"/>
            </a:endParaRPr>
          </a:p>
        </p:txBody>
      </p:sp>
      <p:sp>
        <p:nvSpPr>
          <p:cNvPr id="4" name="Slide Number Placeholder 3"/>
          <p:cNvSpPr>
            <a:spLocks noGrp="1"/>
          </p:cNvSpPr>
          <p:nvPr>
            <p:ph type="sldNum" sz="quarter" idx="5"/>
          </p:nvPr>
        </p:nvSpPr>
        <p:spPr/>
        <p:txBody>
          <a:bodyPr/>
          <a:lstStyle/>
          <a:p>
            <a:fld id="{F999B78F-7C08-ED42-8E36-4ED23DEF8F74}" type="slidenum">
              <a:rPr lang="en-US" smtClean="0"/>
              <a:t>19</a:t>
            </a:fld>
            <a:endParaRPr lang="en-US"/>
          </a:p>
        </p:txBody>
      </p:sp>
    </p:spTree>
    <p:extLst>
      <p:ext uri="{BB962C8B-B14F-4D97-AF65-F5344CB8AC3E}">
        <p14:creationId xmlns:p14="http://schemas.microsoft.com/office/powerpoint/2010/main" val="1954761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Context models</a:t>
            </a:r>
            <a:endParaRPr lang="en-GB" dirty="0"/>
          </a:p>
          <a:p>
            <a:r>
              <a:rPr lang="en-US" dirty="0"/>
              <a:t>Interaction models</a:t>
            </a:r>
            <a:endParaRPr lang="en-GB" dirty="0"/>
          </a:p>
          <a:p>
            <a:r>
              <a:rPr lang="en-US" dirty="0"/>
              <a:t>Structural models</a:t>
            </a:r>
            <a:endParaRPr lang="en-GB" dirty="0"/>
          </a:p>
          <a:p>
            <a:r>
              <a:rPr lang="en-US" dirty="0"/>
              <a:t>Behavioral models</a:t>
            </a:r>
            <a:endParaRPr lang="en-GB" dirty="0"/>
          </a:p>
          <a:p>
            <a:r>
              <a:rPr lang="en-US" dirty="0"/>
              <a:t>Model-driven engineering</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p:txBody>
          <a:bodyPr/>
          <a:lstStyle/>
          <a:p>
            <a:r>
              <a:rPr lang="en-US" dirty="0"/>
              <a:t>System modeling is the process of developing abstract models of a system, with each model presenting a different view or perspective of that system. </a:t>
            </a:r>
          </a:p>
          <a:p>
            <a:r>
              <a:rPr lang="en-US" dirty="0"/>
              <a:t>System modeling has now come to mean representing a system using some kind of graphical notation, which is now almost always based on notations in the Unified Modeling Language (UML). </a:t>
            </a:r>
          </a:p>
          <a:p>
            <a:r>
              <a:rPr lang="en-GB" dirty="0"/>
              <a:t>System modelling helps the analyst to understand the functionality of the system and models are used to communicate with customers.</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a:t>Existing and planned system models</a:t>
            </a:r>
          </a:p>
        </p:txBody>
      </p:sp>
      <p:sp>
        <p:nvSpPr>
          <p:cNvPr id="7171" name="Rectangle 3"/>
          <p:cNvSpPr>
            <a:spLocks noGrp="1" noChangeArrowheads="1"/>
          </p:cNvSpPr>
          <p:nvPr>
            <p:ph idx="1"/>
          </p:nvPr>
        </p:nvSpPr>
        <p:spPr>
          <a:noFill/>
          <a:ln/>
        </p:spPr>
        <p:txBody>
          <a:bodyPr lIns="90487" tIns="44450" rIns="90487" bIns="44450"/>
          <a:lstStyle/>
          <a:p>
            <a:r>
              <a:rPr lang="en-US" sz="2200" dirty="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a:p>
          <a:p>
            <a:r>
              <a:rPr lang="en-US" sz="2200" dirty="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a:t>In a model-driven engineering process, it is possible to generate a complete or partial system implementation from the system model.</a:t>
            </a:r>
            <a:r>
              <a:rPr lang="en-US" dirty="0"/>
              <a:t> </a:t>
            </a:r>
            <a:endParaRPr lang="en-GB" dirty="0"/>
          </a:p>
          <a:p>
            <a:endParaRPr lang="en-GB" sz="20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p:txBody>
          <a:bodyPr lIns="91440" tIns="45720" rIns="91440" bIns="45720" anchor="t"/>
          <a:lstStyle/>
          <a:p>
            <a:pPr marL="457200" indent="-457200">
              <a:buAutoNum type="arabicPeriod"/>
            </a:pPr>
            <a:r>
              <a:rPr lang="en-US" dirty="0"/>
              <a:t>An external perspective, where you model the context or environment of the system.</a:t>
            </a:r>
            <a:endParaRPr lang="en-GB" dirty="0"/>
          </a:p>
          <a:p>
            <a:pPr marL="457200" indent="-457200">
              <a:buAutoNum type="arabicPeriod"/>
            </a:pPr>
            <a:r>
              <a:rPr lang="en-US" dirty="0"/>
              <a:t>An interaction perspective, where you model the interactions between a system and its environment, or between the components of a system.</a:t>
            </a:r>
            <a:endParaRPr lang="en-GB" dirty="0"/>
          </a:p>
          <a:p>
            <a:pPr marL="457200" indent="-457200">
              <a:buAutoNum type="arabicPeriod"/>
            </a:pPr>
            <a:r>
              <a:rPr lang="en-US" dirty="0"/>
              <a:t>A structural perspective, where you model the organization of a system or the structure of the data that is processed by the system.</a:t>
            </a:r>
            <a:endParaRPr lang="en-GB" dirty="0"/>
          </a:p>
          <a:p>
            <a:pPr marL="457200" indent="-457200">
              <a:buAutoNum type="arabicPeriod"/>
            </a:pPr>
            <a:r>
              <a:rPr lang="en-US" dirty="0"/>
              <a:t>A behavioral perspective, where you model the dynamic behavior of the system and how it responds to events. </a:t>
            </a:r>
            <a:endParaRPr lang="en-GB" dirty="0"/>
          </a:p>
          <a:p>
            <a:pPr>
              <a:buAutoNum type="arabicPeriod"/>
            </a:pP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 types</a:t>
            </a:r>
          </a:p>
        </p:txBody>
      </p:sp>
      <p:sp>
        <p:nvSpPr>
          <p:cNvPr id="3" name="Content Placeholder 2"/>
          <p:cNvSpPr>
            <a:spLocks noGrp="1"/>
          </p:cNvSpPr>
          <p:nvPr>
            <p:ph idx="1"/>
          </p:nvPr>
        </p:nvSpPr>
        <p:spPr/>
        <p:txBody>
          <a:bodyPr/>
          <a:lstStyle/>
          <a:p>
            <a:r>
              <a:rPr lang="en-US" dirty="0"/>
              <a:t>Activity diagrams, which show the activities involved in a process or in data processing .</a:t>
            </a:r>
            <a:endParaRPr lang="en-GB" dirty="0"/>
          </a:p>
          <a:p>
            <a:r>
              <a:rPr lang="en-US" dirty="0"/>
              <a:t>Use case diagrams, which show the interactions between a system and its environment. </a:t>
            </a:r>
            <a:endParaRPr lang="en-GB" dirty="0"/>
          </a:p>
          <a:p>
            <a:r>
              <a:rPr lang="en-US" dirty="0"/>
              <a:t>Sequence diagrams, which show interactions between actors and the system and between system components.</a:t>
            </a:r>
            <a:endParaRPr lang="en-GB" dirty="0"/>
          </a:p>
          <a:p>
            <a:r>
              <a:rPr lang="en-US" dirty="0"/>
              <a:t>Class diagrams, which show the object classes in the system and the associations between these classes.</a:t>
            </a:r>
            <a:endParaRPr lang="en-GB" dirty="0"/>
          </a:p>
          <a:p>
            <a:r>
              <a:rPr lang="en-US" dirty="0"/>
              <a:t>State diagrams, which show how the system reacts to internal and external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As a means of facilitating discussion about an existing or proposed system</a:t>
            </a:r>
          </a:p>
          <a:p>
            <a:pPr lvl="1"/>
            <a:r>
              <a:rPr lang="en-US" dirty="0"/>
              <a:t>Incomplete and incorrect models are OK as their role is to support discussion.</a:t>
            </a:r>
            <a:endParaRPr lang="en-GB" dirty="0"/>
          </a:p>
          <a:p>
            <a:r>
              <a:rPr lang="en-US" dirty="0"/>
              <a:t>As a way of documenting an existing system</a:t>
            </a:r>
          </a:p>
          <a:p>
            <a:pPr lvl="1"/>
            <a:r>
              <a:rPr lang="en-US" dirty="0"/>
              <a:t>Models should be an accurate representation of the system but need not be complete.</a:t>
            </a:r>
            <a:endParaRPr lang="en-GB" dirty="0"/>
          </a:p>
          <a:p>
            <a:r>
              <a:rPr lang="en-US" dirty="0"/>
              <a:t>As a detailed system description 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38"/>
            <a:ext cx="8229600" cy="1143000"/>
          </a:xfrm>
        </p:spPr>
        <p:txBody>
          <a:bodyPr/>
          <a:lstStyle/>
          <a:p>
            <a:pPr algn="ctr"/>
            <a:r>
              <a:rPr lang="en-US" dirty="0"/>
              <a:t>Context models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242738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p:txBody>
          <a:bodyPr/>
          <a:lstStyle/>
          <a:p>
            <a:r>
              <a:rPr lang="en-US" dirty="0"/>
              <a:t>System boundaries are established to define what is inside and what is outside the system.</a:t>
            </a:r>
          </a:p>
          <a:p>
            <a:pPr lvl="1"/>
            <a:r>
              <a:rPr lang="en-US" dirty="0"/>
              <a:t>They show other systems that are used or depend on the system being developed.</a:t>
            </a:r>
          </a:p>
          <a:p>
            <a:r>
              <a:rPr lang="en-US" dirty="0"/>
              <a:t>The position of the system boundary has a profound effect on the system requirements. </a:t>
            </a:r>
          </a:p>
          <a:p>
            <a:r>
              <a:rPr lang="en-US" dirty="0"/>
              <a:t>Defining a system boundary is a political judgment</a:t>
            </a:r>
          </a:p>
          <a:p>
            <a:pPr lvl="1"/>
            <a:r>
              <a:rPr lang="en-US" dirty="0"/>
              <a:t>There may be pressures to develop system boundaries that increase / decrease the influence or workload of different parts of an organization.</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a:t>
            </a:r>
            <a:r>
              <a:rPr lang="en-GB" dirty="0" err="1"/>
              <a:t>Mentcare</a:t>
            </a:r>
            <a:r>
              <a:rPr lang="en-GB" dirty="0"/>
              <a:t> system</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11</a:t>
            </a:fld>
            <a:endParaRPr lang="en-US"/>
          </a:p>
        </p:txBody>
      </p:sp>
      <p:pic>
        <p:nvPicPr>
          <p:cNvPr id="2" name="Picture 1"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4" name="Content Placeholder 3"/>
          <p:cNvSpPr>
            <a:spLocks noGrp="1"/>
          </p:cNvSpPr>
          <p:nvPr>
            <p:ph idx="1"/>
          </p:nvPr>
        </p:nvSpPr>
        <p:spPr/>
        <p:txBody>
          <a:bodyPr/>
          <a:lstStyle/>
          <a:p>
            <a:r>
              <a:rPr lang="en-US" dirty="0"/>
              <a:t>Context models simply show the other systems in the environment, not how the system being developed is used in that environment.</a:t>
            </a:r>
          </a:p>
          <a:p>
            <a:r>
              <a:rPr lang="en-US" dirty="0"/>
              <a:t>Process models reveal how the system being developed is used in broader business processes.</a:t>
            </a:r>
          </a:p>
          <a:p>
            <a:r>
              <a:rPr lang="en-US" dirty="0"/>
              <a:t>UML activity diagrams may be used to define business process models.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12</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Process model of involuntary detention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13</a:t>
            </a:fld>
            <a:endParaRPr lang="en-US"/>
          </a:p>
        </p:txBody>
      </p:sp>
      <p:pic>
        <p:nvPicPr>
          <p:cNvPr id="2" name="Picture 1" descr="5.2 Detention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765299"/>
            <a:ext cx="8331200" cy="4306013"/>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Interaction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14</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41773823"/>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models</a:t>
            </a:r>
          </a:p>
        </p:txBody>
      </p:sp>
      <p:sp>
        <p:nvSpPr>
          <p:cNvPr id="3" name="Content Placeholder 2"/>
          <p:cNvSpPr>
            <a:spLocks noGrp="1"/>
          </p:cNvSpPr>
          <p:nvPr>
            <p:ph idx="1"/>
          </p:nvPr>
        </p:nvSpPr>
        <p:spPr/>
        <p:txBody>
          <a:bodyPr/>
          <a:lstStyle/>
          <a:p>
            <a:r>
              <a:rPr lang="en-US" dirty="0"/>
              <a:t>Modeling user interaction is important as it helps to identify user requirements. </a:t>
            </a:r>
          </a:p>
          <a:p>
            <a:r>
              <a:rPr lang="en-US" dirty="0"/>
              <a:t>Modeling system-to-system interaction highlights the communication problems that may arise. </a:t>
            </a:r>
          </a:p>
          <a:p>
            <a:r>
              <a:rPr lang="en-US" dirty="0"/>
              <a:t>Modeling component interaction helps us understand if a proposed system structure is likely to deliver the required system performance and dependability.</a:t>
            </a:r>
            <a:r>
              <a:rPr lang="en-GB" dirty="0"/>
              <a:t> </a:t>
            </a:r>
          </a:p>
          <a:p>
            <a:r>
              <a:rPr lang="en-GB" dirty="0"/>
              <a:t>Use case diagrams and sequence diagrams may be used for interaction </a:t>
            </a:r>
            <a:r>
              <a:rPr lang="en-GB" dirty="0" err="1"/>
              <a:t>modeling</a:t>
            </a:r>
            <a:r>
              <a:rPr lang="en-GB" dirty="0"/>
              <a:t>.</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modeling</a:t>
            </a:r>
          </a:p>
        </p:txBody>
      </p:sp>
      <p:sp>
        <p:nvSpPr>
          <p:cNvPr id="3" name="Content Placeholder 2"/>
          <p:cNvSpPr>
            <a:spLocks noGrp="1"/>
          </p:cNvSpPr>
          <p:nvPr>
            <p:ph idx="1"/>
          </p:nvPr>
        </p:nvSpPr>
        <p:spPr/>
        <p:txBody>
          <a:bodyPr/>
          <a:lstStyle/>
          <a:p>
            <a:r>
              <a:rPr lang="en-US" dirty="0"/>
              <a:t>Use cases were developed originally to support requirements elicitation and now incorporated into the UML.</a:t>
            </a:r>
          </a:p>
          <a:p>
            <a:r>
              <a:rPr lang="en-US" dirty="0"/>
              <a:t>Each use case represents a discrete task that involves external interaction with a system.</a:t>
            </a:r>
          </a:p>
          <a:p>
            <a:r>
              <a:rPr lang="en-US" dirty="0"/>
              <a:t>Actors in a use case may be people or other systems.</a:t>
            </a:r>
          </a:p>
          <a:p>
            <a:r>
              <a:rPr lang="en-US" dirty="0"/>
              <a:t>Represented </a:t>
            </a:r>
            <a:r>
              <a:rPr lang="en-US" dirty="0" err="1"/>
              <a:t>diagramatically</a:t>
            </a:r>
            <a:r>
              <a:rPr lang="en-US" dirty="0"/>
              <a:t> to provide an overview of the use case and in a more detailed textual form.</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a:t>
            </a:r>
            <a:r>
              <a:rPr lang="en-US" dirty="0" err="1"/>
              <a:t>Mentcare</a:t>
            </a:r>
            <a:r>
              <a:rPr lang="en-US" dirty="0"/>
              <a:t> system</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17</a:t>
            </a:fld>
            <a:endParaRPr lang="en-US"/>
          </a:p>
        </p:txBody>
      </p:sp>
      <p:pic>
        <p:nvPicPr>
          <p:cNvPr id="4" name="Picture 3" descr="5.3 UseCase.eps"/>
          <p:cNvPicPr>
            <a:picLocks noChangeAspect="1"/>
          </p:cNvPicPr>
          <p:nvPr/>
        </p:nvPicPr>
        <p:blipFill>
          <a:blip r:embed="rId2"/>
          <a:stretch>
            <a:fillRect/>
          </a:stretch>
        </p:blipFill>
        <p:spPr>
          <a:xfrm>
            <a:off x="866722" y="3259717"/>
            <a:ext cx="7486946" cy="121486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Tabular description of the ‘Transfer data’ use-case</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18</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288661915"/>
              </p:ext>
            </p:extLst>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a:t>
                      </a:r>
                      <a:r>
                        <a:rPr kumimoji="0" lang="en-GB" sz="1600" b="0" i="0" u="none" strike="noStrike" cap="none" normalizeH="0" baseline="0" dirty="0" err="1">
                          <a:ln>
                            <a:noFill/>
                          </a:ln>
                          <a:solidFill>
                            <a:srgbClr val="000000"/>
                          </a:solidFill>
                          <a:effectLst/>
                          <a:latin typeface="Arial" charset="0"/>
                          <a:ea typeface="Times New Roman" charset="0"/>
                        </a:rPr>
                        <a:t>Mentcase</a:t>
                      </a:r>
                      <a:r>
                        <a:rPr kumimoji="0" lang="en-GB" sz="1600" b="0" i="0" u="none" strike="noStrike" cap="none" normalizeH="0" baseline="0" dirty="0">
                          <a:ln>
                            <a:noFill/>
                          </a:ln>
                          <a:solidFill>
                            <a:srgbClr val="000000"/>
                          </a:solidFill>
                          <a:effectLst/>
                          <a:latin typeface="Arial" charset="0"/>
                          <a:ea typeface="Times New Roman" charset="0"/>
                        </a:rPr>
                        <a:t> system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Use cases in the </a:t>
            </a:r>
            <a:r>
              <a:rPr lang="en-US" dirty="0" err="1"/>
              <a:t>Mentcare</a:t>
            </a:r>
            <a:r>
              <a:rPr lang="en-US" dirty="0"/>
              <a:t> system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pic>
        <p:nvPicPr>
          <p:cNvPr id="4" name="Picture 3" descr="5.5 RecepUseCases.eps"/>
          <p:cNvPicPr>
            <a:picLocks noChangeAspect="1"/>
          </p:cNvPicPr>
          <p:nvPr/>
        </p:nvPicPr>
        <p:blipFill>
          <a:blip r:embed="rId3"/>
          <a:stretch>
            <a:fillRect/>
          </a:stretch>
        </p:blipFill>
        <p:spPr>
          <a:xfrm>
            <a:off x="2279650" y="1747838"/>
            <a:ext cx="4451350" cy="479565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r>
              <a:rPr lang="en-US" dirty="0"/>
              <a:t>Sequence diagrams are part of the UML and are used to model the interactions between the actors and the objects within a system.</a:t>
            </a:r>
          </a:p>
          <a:p>
            <a:r>
              <a:rPr lang="en-US" dirty="0"/>
              <a:t>A sequence diagram shows the sequence of interactions that take place during a particular use case or use case instance.</a:t>
            </a:r>
          </a:p>
          <a:p>
            <a:r>
              <a:rPr lang="en-US" dirty="0"/>
              <a:t>The objects and actors involved are listed along the top of the diagram, with a dotted line drawn vertically from these. </a:t>
            </a:r>
          </a:p>
          <a:p>
            <a:r>
              <a:rPr lang="en-US" dirty="0"/>
              <a:t>Interactions between objects are indicated by annotated arrows.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21</a:t>
            </a:fld>
            <a:endParaRPr lang="en-US"/>
          </a:p>
        </p:txBody>
      </p:sp>
      <p:pic>
        <p:nvPicPr>
          <p:cNvPr id="2" name="Picture 1" descr="5.6 ViewInfo Seq Dia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400" y="1663698"/>
            <a:ext cx="6201032" cy="4724597"/>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756400" y="5213350"/>
            <a:ext cx="2260600" cy="1143000"/>
          </a:xfrm>
        </p:spPr>
        <p:txBody>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22</a:t>
            </a:fld>
            <a:endParaRPr lang="en-US"/>
          </a:p>
        </p:txBody>
      </p:sp>
      <p:pic>
        <p:nvPicPr>
          <p:cNvPr id="2" name="Picture 1" descr="5.7 Transfer Data.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155574"/>
            <a:ext cx="5988050" cy="6049153"/>
          </a:xfrm>
          <a:prstGeom prst="rect">
            <a:avLst/>
          </a:prstGeom>
        </p:spPr>
      </p:pic>
      <p:sp>
        <p:nvSpPr>
          <p:cNvPr id="3" name="Rectangle 2"/>
          <p:cNvSpPr/>
          <p:nvPr/>
        </p:nvSpPr>
        <p:spPr>
          <a:xfrm>
            <a:off x="368300" y="1231900"/>
            <a:ext cx="7378700" cy="3175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79638"/>
            <a:ext cx="8229600" cy="1143000"/>
          </a:xfrm>
        </p:spPr>
        <p:txBody>
          <a:bodyPr/>
          <a:lstStyle/>
          <a:p>
            <a:pPr algn="ctr"/>
            <a:r>
              <a:rPr lang="en-US" dirty="0"/>
              <a:t>Structural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61216242"/>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a:t>Class diagrams are used when developing an object-oriented system model to show the classes in a system and the associations between these classes. </a:t>
            </a:r>
          </a:p>
          <a:p>
            <a:r>
              <a:rPr lang="en-US" dirty="0"/>
              <a:t>An object class can be thought of as a general definition of one kind of system object. </a:t>
            </a:r>
          </a:p>
          <a:p>
            <a:r>
              <a:rPr lang="en-US" dirty="0"/>
              <a:t>An association is a link between classes that indicates that there is some relationship between these classes.</a:t>
            </a:r>
            <a:r>
              <a:rPr lang="en-GB" dirty="0"/>
              <a:t> </a:t>
            </a:r>
          </a:p>
          <a:p>
            <a:r>
              <a:rPr lang="en-US" dirty="0"/>
              <a:t>When you are developing models during the early stages of the software engineering process, objects represent something in the real world, such as a patient, a prescription, doctor, etc.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pic>
        <p:nvPicPr>
          <p:cNvPr id="4" name="Picture 3" descr="5.8 ClassAssoc.eps"/>
          <p:cNvPicPr>
            <a:picLocks noChangeAspect="1"/>
          </p:cNvPicPr>
          <p:nvPr/>
        </p:nvPicPr>
        <p:blipFill>
          <a:blip r:embed="rId2"/>
          <a:stretch>
            <a:fillRect/>
          </a:stretch>
        </p:blipFill>
        <p:spPr>
          <a:xfrm>
            <a:off x="2076449" y="3060700"/>
            <a:ext cx="5312019" cy="952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pic>
        <p:nvPicPr>
          <p:cNvPr id="4" name="Picture 3" descr="5.9 MHCPMS-classes.eps"/>
          <p:cNvPicPr>
            <a:picLocks noChangeAspect="1"/>
          </p:cNvPicPr>
          <p:nvPr/>
        </p:nvPicPr>
        <p:blipFill>
          <a:blip r:embed="rId2"/>
          <a:stretch>
            <a:fillRect/>
          </a:stretch>
        </p:blipFill>
        <p:spPr>
          <a:xfrm>
            <a:off x="1073149" y="1746249"/>
            <a:ext cx="6677283" cy="4477707"/>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pic>
        <p:nvPicPr>
          <p:cNvPr id="4" name="Picture 3" descr="5.10 Consultation Class.eps"/>
          <p:cNvPicPr>
            <a:picLocks noChangeAspect="1"/>
          </p:cNvPicPr>
          <p:nvPr/>
        </p:nvPicPr>
        <p:blipFill>
          <a:blip r:embed="rId2"/>
          <a:stretch>
            <a:fillRect/>
          </a:stretch>
        </p:blipFill>
        <p:spPr>
          <a:xfrm>
            <a:off x="3263900" y="1727199"/>
            <a:ext cx="2654300" cy="4550229"/>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5" name="Content Placeholder 4"/>
          <p:cNvSpPr>
            <a:spLocks noGrp="1"/>
          </p:cNvSpPr>
          <p:nvPr>
            <p:ph idx="1"/>
          </p:nvPr>
        </p:nvSpPr>
        <p:spPr/>
        <p:txBody>
          <a:bodyPr/>
          <a:lstStyle/>
          <a:p>
            <a:r>
              <a:rPr lang="en-US" dirty="0"/>
              <a:t>Generalization is an everyday technique that we use to manage complexity. </a:t>
            </a:r>
          </a:p>
          <a:p>
            <a:r>
              <a:rPr lang="en-US" dirty="0"/>
              <a:t>Rather than learn the detailed characteristics of every entity that we experience, we place these entities in more general classes (animals, cars, houses, etc.) and learn the characteristics of these classes. </a:t>
            </a:r>
          </a:p>
          <a:p>
            <a:r>
              <a:rPr lang="en-US" dirty="0"/>
              <a:t>This allows us to infer that different members of these classes have some common characteristics e.g. squirrels and rats are rodents.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sz="2100" dirty="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a:t>In object-oriented languages, such as Java, generalization is implemented using the class inheritance mechanisms built into the language.</a:t>
            </a:r>
            <a:r>
              <a:rPr lang="en-GB" sz="2100" dirty="0"/>
              <a:t> </a:t>
            </a:r>
          </a:p>
          <a:p>
            <a:r>
              <a:rPr lang="en-US" sz="2100" dirty="0"/>
              <a:t>In a generalization, the attributes and operations associated with higher-level classes are also associated with the lower-level classes.</a:t>
            </a:r>
          </a:p>
          <a:p>
            <a:r>
              <a:rPr lang="en-US" sz="2100" dirty="0"/>
              <a:t> The lower-level classes are subclasses inherit the attributes and operations from their </a:t>
            </a:r>
            <a:r>
              <a:rPr lang="en-US" sz="2100" dirty="0" err="1"/>
              <a:t>superclasses</a:t>
            </a:r>
            <a:r>
              <a:rPr lang="en-US" sz="2100" dirty="0"/>
              <a:t>. These lower-level classes then add more specific attributes and operations. </a:t>
            </a:r>
          </a:p>
        </p:txBody>
      </p:sp>
      <p:sp>
        <p:nvSpPr>
          <p:cNvPr id="4" name="Footer Placeholder 3"/>
          <p:cNvSpPr>
            <a:spLocks noGrp="1"/>
          </p:cNvSpPr>
          <p:nvPr>
            <p:ph type="ftr" sz="quarter" idx="11"/>
          </p:nvPr>
        </p:nvSpPr>
        <p:spPr/>
        <p:txBody>
          <a:bodyPr/>
          <a:lstStyle/>
          <a:p>
            <a:pPr>
              <a:defRPr/>
            </a:pPr>
            <a:r>
              <a:rPr lang="en-US"/>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A generalization hierarchy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pic>
        <p:nvPicPr>
          <p:cNvPr id="4" name="Picture 3" descr="5.11 GeneralizationHierarchy.eps"/>
          <p:cNvPicPr>
            <a:picLocks noChangeAspect="1"/>
          </p:cNvPicPr>
          <p:nvPr/>
        </p:nvPicPr>
        <p:blipFill>
          <a:blip r:embed="rId2"/>
          <a:stretch>
            <a:fillRect/>
          </a:stretch>
        </p:blipFill>
        <p:spPr>
          <a:xfrm>
            <a:off x="2374900" y="2133600"/>
            <a:ext cx="4495800" cy="3238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A generalization hierarchy with added detail</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pic>
        <p:nvPicPr>
          <p:cNvPr id="4" name="Picture 3" descr="5.12 GeneralisationDetail.eps"/>
          <p:cNvPicPr>
            <a:picLocks noChangeAspect="1"/>
          </p:cNvPicPr>
          <p:nvPr/>
        </p:nvPicPr>
        <p:blipFill>
          <a:blip r:embed="rId2"/>
          <a:stretch>
            <a:fillRect/>
          </a:stretch>
        </p:blipFill>
        <p:spPr>
          <a:xfrm>
            <a:off x="2432049" y="1879600"/>
            <a:ext cx="4576879" cy="37719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 class aggregation models</a:t>
            </a:r>
          </a:p>
        </p:txBody>
      </p:sp>
      <p:sp>
        <p:nvSpPr>
          <p:cNvPr id="25603" name="Rectangle 3"/>
          <p:cNvSpPr>
            <a:spLocks noGrp="1" noChangeArrowheads="1"/>
          </p:cNvSpPr>
          <p:nvPr>
            <p:ph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The aggregation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34</a:t>
            </a:fld>
            <a:endParaRPr lang="en-US"/>
          </a:p>
        </p:txBody>
      </p:sp>
      <p:pic>
        <p:nvPicPr>
          <p:cNvPr id="4" name="Picture 3" descr="5.13 Aggregation.eps"/>
          <p:cNvPicPr>
            <a:picLocks noChangeAspect="1"/>
          </p:cNvPicPr>
          <p:nvPr/>
        </p:nvPicPr>
        <p:blipFill>
          <a:blip r:embed="rId2"/>
          <a:stretch>
            <a:fillRect/>
          </a:stretch>
        </p:blipFill>
        <p:spPr>
          <a:xfrm>
            <a:off x="2425699" y="2540000"/>
            <a:ext cx="4199467" cy="2362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9338"/>
            <a:ext cx="8229600" cy="1143000"/>
          </a:xfrm>
        </p:spPr>
        <p:txBody>
          <a:bodyPr/>
          <a:lstStyle/>
          <a:p>
            <a:pPr algn="ctr"/>
            <a:r>
              <a:rPr lang="en-US" dirty="0"/>
              <a:t>Behavioral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354860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t>Behavioral models are models of the dynamic behavior of a system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 </a:t>
            </a:r>
            <a:r>
              <a:rPr lang="en-US" dirty="0"/>
              <a:t>Some data arrives that has to be processed by the system.</a:t>
            </a:r>
            <a:endParaRPr lang="en-GB" dirty="0"/>
          </a:p>
          <a:p>
            <a:pPr lvl="1"/>
            <a:r>
              <a:rPr lang="en-US" dirty="0">
                <a:solidFill>
                  <a:srgbClr val="FF0000"/>
                </a:solidFill>
              </a:rPr>
              <a:t>Events </a:t>
            </a:r>
            <a:r>
              <a:rPr lang="en-US" dirty="0"/>
              <a:t>Some event happens that triggers system processing. Events may have associated data, although this is not always the case.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Data-driven modeling</a:t>
            </a:r>
          </a:p>
        </p:txBody>
      </p:sp>
      <p:sp>
        <p:nvSpPr>
          <p:cNvPr id="3" name="Content Placeholder 2"/>
          <p:cNvSpPr>
            <a:spLocks noGrp="1"/>
          </p:cNvSpPr>
          <p:nvPr>
            <p:ph idx="1"/>
          </p:nvPr>
        </p:nvSpPr>
        <p:spPr/>
        <p:txBody>
          <a:bodyPr/>
          <a:lstStyle/>
          <a:p>
            <a:r>
              <a:rPr lang="en-US" dirty="0"/>
              <a:t>Many business systems are data-processing systems that are primarily driven by data. They are controlled by the data input to the system, with relatively little external event processing. </a:t>
            </a:r>
          </a:p>
          <a:p>
            <a:r>
              <a:rPr lang="en-US" dirty="0"/>
              <a:t>Data-driven models show the sequence of actions involved in processing input data and generating an associated output. </a:t>
            </a:r>
          </a:p>
          <a:p>
            <a:r>
              <a:rPr lang="en-US" dirty="0"/>
              <a:t>They are particularly useful during the analysis of requirements as they can be used to show end-to-end processing in a system.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An activity model of the insulin pump’s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pic>
        <p:nvPicPr>
          <p:cNvPr id="4" name="Picture 3" descr="5.14 PumpDFD.eps"/>
          <p:cNvPicPr>
            <a:picLocks noChangeAspect="1"/>
          </p:cNvPicPr>
          <p:nvPr/>
        </p:nvPicPr>
        <p:blipFill>
          <a:blip r:embed="rId2"/>
          <a:stretch>
            <a:fillRect/>
          </a:stretch>
        </p:blipFill>
        <p:spPr>
          <a:xfrm>
            <a:off x="1035049" y="2355850"/>
            <a:ext cx="7215073" cy="2457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Order processing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pic>
        <p:nvPicPr>
          <p:cNvPr id="4" name="Picture 3" descr="5.15 OrderSeq.eps"/>
          <p:cNvPicPr>
            <a:picLocks noChangeAspect="1"/>
          </p:cNvPicPr>
          <p:nvPr/>
        </p:nvPicPr>
        <p:blipFill rotWithShape="1">
          <a:blip r:embed="rId2"/>
          <a:srcRect b="13436"/>
          <a:stretch/>
        </p:blipFill>
        <p:spPr>
          <a:xfrm>
            <a:off x="632742" y="1758950"/>
            <a:ext cx="7393658" cy="4235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modeling</a:t>
            </a:r>
          </a:p>
        </p:txBody>
      </p:sp>
      <p:sp>
        <p:nvSpPr>
          <p:cNvPr id="5" name="Content Placeholder 4"/>
          <p:cNvSpPr>
            <a:spLocks noGrp="1"/>
          </p:cNvSpPr>
          <p:nvPr>
            <p:ph idx="1"/>
          </p:nvPr>
        </p:nvSpPr>
        <p:spPr/>
        <p:txBody>
          <a:bodyPr/>
          <a:lstStyle/>
          <a:p>
            <a:r>
              <a:rPr lang="en-US" dirty="0"/>
              <a:t>Real-time systems are often event-driven, with minimal data processing. For example, a landline phone switching system responds to events such as ‘receiver off hook’ by</a:t>
            </a:r>
            <a:r>
              <a:rPr lang="en-GB" dirty="0"/>
              <a:t> </a:t>
            </a:r>
            <a:r>
              <a:rPr lang="en-US" dirty="0"/>
              <a:t>generating a dial tone.</a:t>
            </a:r>
            <a:r>
              <a:rPr lang="en-GB" dirty="0"/>
              <a:t> </a:t>
            </a:r>
            <a:endParaRPr lang="en-US" dirty="0"/>
          </a:p>
          <a:p>
            <a:r>
              <a:rPr lang="en-US" dirty="0"/>
              <a:t>Event-driven modeling shows how a system responds to external and internal events. </a:t>
            </a:r>
          </a:p>
          <a:p>
            <a:r>
              <a:rPr lang="en-US" dirty="0"/>
              <a:t>It is based on the assumption that a system has a finite number of states and that events (stimuli) may cause a transition from one state to another.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State diagram of a microwave oven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pic>
        <p:nvPicPr>
          <p:cNvPr id="4" name="Picture 3" descr="5.16 MWOvenStateDiag.eps"/>
          <p:cNvPicPr>
            <a:picLocks noChangeAspect="1"/>
          </p:cNvPicPr>
          <p:nvPr/>
        </p:nvPicPr>
        <p:blipFill>
          <a:blip r:embed="rId2"/>
          <a:stretch>
            <a:fillRect/>
          </a:stretch>
        </p:blipFill>
        <p:spPr>
          <a:xfrm>
            <a:off x="1276349" y="1689100"/>
            <a:ext cx="7086461" cy="43053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Microwave oven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pic>
        <p:nvPicPr>
          <p:cNvPr id="4" name="Picture 3" descr="5.18 Operate-state-mc.eps"/>
          <p:cNvPicPr>
            <a:picLocks noChangeAspect="1"/>
          </p:cNvPicPr>
          <p:nvPr/>
        </p:nvPicPr>
        <p:blipFill>
          <a:blip r:embed="rId2"/>
          <a:stretch>
            <a:fillRect/>
          </a:stretch>
        </p:blipFill>
        <p:spPr>
          <a:xfrm>
            <a:off x="2228850" y="1746250"/>
            <a:ext cx="5048250" cy="40576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States and stimuli for the microwave oven (a)</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State</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Waiting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States and stimuli for the microwave oven (</a:t>
            </a:r>
            <a:r>
              <a:rPr lang="en-US" dirty="0" err="1"/>
              <a:t>b</a:t>
            </a:r>
            <a:r>
              <a:rPr lang="en-US" dirty="0"/>
              <a:t>)</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45</a:t>
            </a:fld>
            <a:endParaRPr lang="en-US"/>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extLst>
                    <a:ext uri="{9D8B030D-6E8A-4147-A177-3AD203B41FA5}">
                      <a16:colId xmlns:a16="http://schemas.microsoft.com/office/drawing/2014/main" val="20000"/>
                    </a:ext>
                  </a:extLst>
                </a:gridCol>
                <a:gridCol w="4489450">
                  <a:extLst>
                    <a:ext uri="{9D8B030D-6E8A-4147-A177-3AD203B41FA5}">
                      <a16:colId xmlns:a16="http://schemas.microsoft.com/office/drawing/2014/main" val="20001"/>
                    </a:ext>
                  </a:extLst>
                </a:gridCol>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Stimulus</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Half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8238"/>
            <a:ext cx="8229600" cy="1143000"/>
          </a:xfrm>
        </p:spPr>
        <p:txBody>
          <a:bodyPr/>
          <a:lstStyle/>
          <a:p>
            <a:pPr algn="ctr"/>
            <a:r>
              <a:rPr lang="en-US" dirty="0"/>
              <a:t>Model-driven engineering</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67563530"/>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5" name="Content Placeholder 4"/>
          <p:cNvSpPr>
            <a:spLocks noGrp="1"/>
          </p:cNvSpPr>
          <p:nvPr>
            <p:ph idx="1"/>
          </p:nvPr>
        </p:nvSpPr>
        <p:spPr/>
        <p:txBody>
          <a:bodyPr/>
          <a:lstStyle/>
          <a:p>
            <a:r>
              <a:rPr lang="en-US" dirty="0"/>
              <a:t>Model-driven engineering (MDE) is an approach to software development where models rather than programs are the principal outputs of the development process. </a:t>
            </a:r>
          </a:p>
          <a:p>
            <a:r>
              <a:rPr lang="en-US" dirty="0"/>
              <a:t>The programs that execute on a hardware/software platform are then generated automatically from the models. </a:t>
            </a:r>
          </a:p>
          <a:p>
            <a:r>
              <a:rPr lang="en-US" dirty="0"/>
              <a:t>Proponents of MDE argue that this raises the level of abstraction in software engineering so that engineers no longer have to be concerned with programming language details or the specifics of execution platforms.</a:t>
            </a:r>
            <a:r>
              <a:rPr lang="en-GB" dirty="0"/>
              <a:t> </a:t>
            </a:r>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model-driven engineering</a:t>
            </a:r>
          </a:p>
        </p:txBody>
      </p:sp>
      <p:sp>
        <p:nvSpPr>
          <p:cNvPr id="3" name="Content Placeholder 2"/>
          <p:cNvSpPr>
            <a:spLocks noGrp="1"/>
          </p:cNvSpPr>
          <p:nvPr>
            <p:ph idx="1"/>
          </p:nvPr>
        </p:nvSpPr>
        <p:spPr/>
        <p:txBody>
          <a:bodyPr/>
          <a:lstStyle/>
          <a:p>
            <a:r>
              <a:rPr lang="en-US" dirty="0"/>
              <a:t>Model-driven engineering is still at an early stage of development, and it is unclear whether or not it will have a significant effect on software engineering practice.</a:t>
            </a:r>
            <a:r>
              <a:rPr lang="en-GB" dirty="0"/>
              <a:t> </a:t>
            </a:r>
          </a:p>
          <a:p>
            <a:r>
              <a:rPr lang="en-GB" dirty="0"/>
              <a:t>Pros</a:t>
            </a:r>
          </a:p>
          <a:p>
            <a:pPr lvl="1"/>
            <a:r>
              <a:rPr lang="en-GB" dirty="0"/>
              <a:t>Allows systems to be considered at higher levels of abstraction</a:t>
            </a:r>
          </a:p>
          <a:p>
            <a:pPr lvl="1"/>
            <a:r>
              <a:rPr lang="en-GB" dirty="0"/>
              <a:t>Generating code automatically means that it is cheaper to adapt systems to new platforms.</a:t>
            </a:r>
          </a:p>
          <a:p>
            <a:r>
              <a:rPr lang="en-GB" dirty="0"/>
              <a:t>Cons</a:t>
            </a:r>
          </a:p>
          <a:p>
            <a:pPr lvl="1"/>
            <a:r>
              <a:rPr lang="en-GB" dirty="0"/>
              <a:t>Models for abstraction and not necessarily right for implementation.</a:t>
            </a:r>
          </a:p>
          <a:p>
            <a:pPr lvl="1"/>
            <a:r>
              <a:rPr lang="en-GB" dirty="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driven architecture</a:t>
            </a:r>
          </a:p>
        </p:txBody>
      </p:sp>
      <p:sp>
        <p:nvSpPr>
          <p:cNvPr id="5" name="Content Placeholder 4"/>
          <p:cNvSpPr>
            <a:spLocks noGrp="1"/>
          </p:cNvSpPr>
          <p:nvPr>
            <p:ph idx="1"/>
          </p:nvPr>
        </p:nvSpPr>
        <p:spPr/>
        <p:txBody>
          <a:bodyPr/>
          <a:lstStyle/>
          <a:p>
            <a:r>
              <a:rPr lang="en-US" dirty="0"/>
              <a:t>Model-driven architecture (MDA) was the precursor of more general model-driven engineering</a:t>
            </a:r>
          </a:p>
          <a:p>
            <a:r>
              <a:rPr lang="en-US" dirty="0"/>
              <a:t>MDA is a model-focused approach to software design and implementation that uses a subset of UML models to describe a system. </a:t>
            </a:r>
          </a:p>
          <a:p>
            <a:r>
              <a:rPr lang="en-US" dirty="0"/>
              <a:t>Models at different levels of abstraction are created. From a high-level, platform independent model, it is possible, in principle, to generate a working program without manual intervention.</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model</a:t>
            </a:r>
          </a:p>
        </p:txBody>
      </p:sp>
      <p:sp>
        <p:nvSpPr>
          <p:cNvPr id="3" name="Content Placeholder 2"/>
          <p:cNvSpPr>
            <a:spLocks noGrp="1"/>
          </p:cNvSpPr>
          <p:nvPr>
            <p:ph idx="1"/>
          </p:nvPr>
        </p:nvSpPr>
        <p:spPr>
          <a:xfrm>
            <a:off x="457200" y="1536700"/>
            <a:ext cx="8229600" cy="4525963"/>
          </a:xfrm>
        </p:spPr>
        <p:txBody>
          <a:bodyPr/>
          <a:lstStyle/>
          <a:p>
            <a:r>
              <a:rPr lang="en-US" dirty="0"/>
              <a:t>A computation independent model (CIM) </a:t>
            </a:r>
          </a:p>
          <a:p>
            <a:pPr lvl="1"/>
            <a:r>
              <a:rPr lang="en-US" dirty="0"/>
              <a:t>These model the important domain abstractions used in a system. </a:t>
            </a:r>
            <a:r>
              <a:rPr lang="en-US" dirty="0" err="1"/>
              <a:t>CIMs</a:t>
            </a:r>
            <a:r>
              <a:rPr lang="en-US" dirty="0"/>
              <a:t> are sometimes called domain models. </a:t>
            </a:r>
          </a:p>
          <a:p>
            <a:r>
              <a:rPr lang="en-US" dirty="0"/>
              <a:t>A platform independent model (PIM) </a:t>
            </a:r>
          </a:p>
          <a:p>
            <a:pPr lvl="1"/>
            <a:r>
              <a:rPr lang="en-US" dirty="0"/>
              <a:t>These model the operation of the system without reference to its implementation. The PIM is usually described using UML models that show the static system structure and how it responds to external and internal events.</a:t>
            </a:r>
          </a:p>
          <a:p>
            <a:r>
              <a:rPr lang="en-US" dirty="0"/>
              <a:t>Platform specific models (PSM) </a:t>
            </a:r>
          </a:p>
          <a:p>
            <a:pPr lvl="1"/>
            <a:r>
              <a:rPr lang="en-US" dirty="0"/>
              <a:t>These are transformations of the platform-independent model with a separate PSM for each application platform. In principle, there may be layers of PSM, with each layer adding some platform-specific detail.</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MDA transformations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pic>
        <p:nvPicPr>
          <p:cNvPr id="4" name="Picture 3" descr="5.19 MDA-Transformations.eps"/>
          <p:cNvPicPr>
            <a:picLocks noChangeAspect="1"/>
          </p:cNvPicPr>
          <p:nvPr/>
        </p:nvPicPr>
        <p:blipFill>
          <a:blip r:embed="rId2"/>
          <a:stretch>
            <a:fillRect/>
          </a:stretch>
        </p:blipFill>
        <p:spPr>
          <a:xfrm>
            <a:off x="1365250" y="2273300"/>
            <a:ext cx="6789738" cy="28067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Multiple platform-specific models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52</a:t>
            </a:fld>
            <a:endParaRPr lang="en-US"/>
          </a:p>
        </p:txBody>
      </p:sp>
      <p:pic>
        <p:nvPicPr>
          <p:cNvPr id="4" name="Picture 3" descr="5.20 Multiple PSMs.eps"/>
          <p:cNvPicPr>
            <a:picLocks noChangeAspect="1"/>
          </p:cNvPicPr>
          <p:nvPr/>
        </p:nvPicPr>
        <p:blipFill>
          <a:blip r:embed="rId2"/>
          <a:stretch>
            <a:fillRect/>
          </a:stretch>
        </p:blipFill>
        <p:spPr>
          <a:xfrm>
            <a:off x="857250" y="2438400"/>
            <a:ext cx="7117940"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MDA</a:t>
            </a:r>
          </a:p>
        </p:txBody>
      </p:sp>
      <p:sp>
        <p:nvSpPr>
          <p:cNvPr id="5" name="Content Placeholder 4"/>
          <p:cNvSpPr>
            <a:spLocks noGrp="1"/>
          </p:cNvSpPr>
          <p:nvPr>
            <p:ph idx="1"/>
          </p:nvPr>
        </p:nvSpPr>
        <p:spPr/>
        <p:txBody>
          <a:bodyPr/>
          <a:lstStyle/>
          <a:p>
            <a:r>
              <a:rPr lang="en-US" dirty="0"/>
              <a:t>The developers of MDA claim that it is intended to support an iterative approach to development and so can be used within agile methods. </a:t>
            </a:r>
          </a:p>
          <a:p>
            <a:r>
              <a:rPr lang="en-US" dirty="0"/>
              <a:t>The notion of extensive up-front modeling contradicts the fundamental ideas in the agile manifesto and I suspect that few agile developers feel comfortable with model-driven engineering.  </a:t>
            </a:r>
          </a:p>
          <a:p>
            <a:r>
              <a:rPr lang="en-US" dirty="0"/>
              <a:t>If transformations can be completely automated and a complete program generated from a PIM, then, in principle, MDA could be used in an agile development process as no separate coding would be required.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A range of factors has limited the adoption of MDE/MDA</a:t>
            </a:r>
          </a:p>
          <a:p>
            <a:r>
              <a:rPr lang="en-US" dirty="0"/>
              <a:t>Specialized tool support is required to convert models from one level to another</a:t>
            </a:r>
          </a:p>
          <a:p>
            <a:r>
              <a:rPr lang="en-US" dirty="0"/>
              <a:t>There is limited tool availability and organizations may require tool adaptation and </a:t>
            </a:r>
            <a:r>
              <a:rPr lang="en-US" dirty="0" err="1"/>
              <a:t>customisation</a:t>
            </a:r>
            <a:r>
              <a:rPr lang="en-US" dirty="0"/>
              <a:t> to their environment</a:t>
            </a:r>
          </a:p>
          <a:p>
            <a:r>
              <a:rPr lang="en-US" dirty="0"/>
              <a:t>For the long-lifetime systems developed using MDA, companies are reluctant to develop their own tools or rely on small companies that may go out of business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46207213"/>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Models are a good way of facilitating discussions about a software design. </a:t>
            </a:r>
            <a:r>
              <a:rPr lang="en-US" dirty="0" err="1"/>
              <a:t>Howeverthe</a:t>
            </a:r>
            <a:r>
              <a:rPr lang="en-US" dirty="0"/>
              <a:t> abstractions that are useful for discussions may not be the right abstractions for implementation. </a:t>
            </a:r>
          </a:p>
          <a:p>
            <a:r>
              <a:rPr lang="en-US" dirty="0"/>
              <a:t>For most complex systems, implementation is not the major problem – requirements engineering, security and dependability, integration with legacy systems and testing are all more significant. </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65400208"/>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The arguments for platform-independence are only valid for large, long-lifetime systems. For software products and information systems, the savings from the use of MDA are likely to be outweighed by the costs of its introduction and tooling.</a:t>
            </a:r>
            <a:endParaRPr lang="en-GB" dirty="0"/>
          </a:p>
          <a:p>
            <a:r>
              <a:rPr lang="en-GB" dirty="0"/>
              <a:t>The widespread adoption of agile methods over the same period that MDA was evolving has diverted attention away from model-driven approaches.</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83037779"/>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5" name="Content Placeholder 4"/>
          <p:cNvSpPr>
            <a:spLocks noGrp="1"/>
          </p:cNvSpPr>
          <p:nvPr>
            <p:ph idx="1"/>
          </p:nvPr>
        </p:nvSpPr>
        <p:spPr/>
        <p:txBody>
          <a:bodyPr/>
          <a:lstStyle/>
          <a:p>
            <a:r>
              <a:rPr lang="en-GB" sz="2000" dirty="0"/>
              <a:t>A model is an abstract view of a system that ignores system details. Complementary system models can be developed to show the system’s context, interactions, structure and </a:t>
            </a:r>
            <a:r>
              <a:rPr lang="en-GB" sz="2000" dirty="0" err="1"/>
              <a:t>behavior</a:t>
            </a:r>
            <a:r>
              <a:rPr lang="en-GB" sz="2000" dirty="0"/>
              <a:t>.</a:t>
            </a:r>
          </a:p>
          <a:p>
            <a:r>
              <a:rPr lang="en-GB" sz="2000" dirty="0"/>
              <a:t>Context models show how a system that is being </a:t>
            </a:r>
            <a:r>
              <a:rPr lang="en-US" sz="2000" dirty="0"/>
              <a:t>modeled is positioned in an environment with other systems and processes. </a:t>
            </a:r>
            <a:endParaRPr lang="en-GB" sz="2000" dirty="0"/>
          </a:p>
          <a:p>
            <a:r>
              <a:rPr lang="en-US" sz="2000" dirty="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a:p>
          <a:p>
            <a:r>
              <a:rPr lang="en-US" sz="2000" dirty="0"/>
              <a:t>Structural models show the organization and architecture of a system. Class diagrams are used to define the static structure of classes in a system and their associations.</a:t>
            </a:r>
            <a:endParaRPr lang="en-GB" sz="2000" dirty="0"/>
          </a:p>
          <a:p>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20102005"/>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US" sz="2200" dirty="0"/>
              <a:t>Behavioral models are used to describe the dynamic behavior of an executing system. This behavior can be modeled from the perspective of the data processed by the system, or by the events that stimulate responses from a system.</a:t>
            </a:r>
            <a:endParaRPr lang="en-GB" sz="2200" dirty="0"/>
          </a:p>
          <a:p>
            <a:r>
              <a:rPr lang="en-US" sz="2200" dirty="0"/>
              <a:t>Activity diagrams may be used to model the processing of data, where each activity represents one process step.</a:t>
            </a:r>
            <a:endParaRPr lang="en-GB" sz="2200" dirty="0"/>
          </a:p>
          <a:p>
            <a:r>
              <a:rPr lang="en-US" sz="2200" dirty="0"/>
              <a:t>State diagrams are used to model a system’s behavior in response to internal or external events. </a:t>
            </a:r>
            <a:endParaRPr lang="en-GB" sz="2200" dirty="0"/>
          </a:p>
          <a:p>
            <a:r>
              <a:rPr lang="en-US" sz="2200" dirty="0"/>
              <a:t>Model-driven engineering is an approach to software development in which a system is represented as a set of models that can be automatically transformed to executable code. </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1702</TotalTime>
  <Words>3598</Words>
  <Application>Microsoft Office PowerPoint</Application>
  <PresentationFormat>On-screen Show (4:3)</PresentationFormat>
  <Paragraphs>397</Paragraphs>
  <Slides>58</Slides>
  <Notes>1</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SE10 slides</vt:lpstr>
      <vt:lpstr>Chapter 5 – System Modeling</vt:lpstr>
      <vt:lpstr>Topics covered</vt:lpstr>
      <vt:lpstr>System modeling</vt:lpstr>
      <vt:lpstr>Existing and planned system models</vt:lpstr>
      <vt:lpstr>System perspectives</vt:lpstr>
      <vt:lpstr>UML diagram types</vt:lpstr>
      <vt:lpstr>Use of graphical models</vt:lpstr>
      <vt:lpstr>Context models</vt:lpstr>
      <vt:lpstr>Context models</vt:lpstr>
      <vt:lpstr>System boundaries</vt:lpstr>
      <vt:lpstr>The context of the Mentcare system</vt:lpstr>
      <vt:lpstr>Process perspective</vt:lpstr>
      <vt:lpstr>Process model of involuntary detention </vt:lpstr>
      <vt:lpstr>Interaction models</vt:lpstr>
      <vt:lpstr>Interaction models</vt:lpstr>
      <vt:lpstr>Use case modeling</vt:lpstr>
      <vt:lpstr>Transfer-data use case </vt:lpstr>
      <vt:lpstr>Tabular description of the ‘Transfer data’ use-case </vt:lpstr>
      <vt:lpstr>Use cases in the Mentcare system involving the role ‘Medical Receptionist’ </vt:lpstr>
      <vt:lpstr>Sequence diagrams</vt:lpstr>
      <vt:lpstr>Sequence diagram for View patient information </vt:lpstr>
      <vt:lpstr>Sequence diagram for Transfer Data </vt:lpstr>
      <vt:lpstr>Structural models</vt:lpstr>
      <vt:lpstr>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Microwave oven operation </vt:lpstr>
      <vt:lpstr>States and stimuli for the microwave oven (a) </vt:lpstr>
      <vt:lpstr>States and stimuli for the microwave oven (b) </vt:lpstr>
      <vt:lpstr>Model-driven engineering</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Adoption of MDA</vt:lpstr>
      <vt:lpstr>Adoption of MDA</vt:lpstr>
      <vt:lpstr>Adoption of MDA</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Ian Sommerville</cp:lastModifiedBy>
  <cp:revision>38</cp:revision>
  <dcterms:created xsi:type="dcterms:W3CDTF">2010-01-15T13:50:47Z</dcterms:created>
  <dcterms:modified xsi:type="dcterms:W3CDTF">2024-03-22T04:11:09Z</dcterms:modified>
</cp:coreProperties>
</file>